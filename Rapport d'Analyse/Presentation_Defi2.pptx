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5D2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5D26"/>
                </a:solidFill>
                <a:latin typeface="Arial"/>
              </a:rPr>
              <a:t>Répartition des cantons par statut de résilience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F2C500"/>
              </a:solidFill>
              <a:effectLst/>
            </c:spPr>
          </c:dPt>
          <c:dPt>
            <c:idx val="2"/>
            <c:bubble3D val="0"/>
            <c:spPr>
              <a:solidFill>
                <a:srgbClr val="1E8A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Vulnérable (209)</c:v>
                </c:pt>
                <c:pt idx="1">
                  <c:v>Intermédiaire (136)</c:v>
                </c:pt>
                <c:pt idx="2">
                  <c:v>Résilient (18)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209</c:v>
                </c:pt>
                <c:pt idx="1">
                  <c:v>136</c:v>
                </c:pt>
                <c:pt idx="2">
                  <c:v>18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5D2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5D26"/>
                </a:solidFill>
                <a:latin typeface="Arial"/>
              </a:rPr>
              <a:t>Retenues + digues par région (911 au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Ouvrages d'eau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Plateaux</c:v>
                  </c:pt>
                  <c:pt idx="1">
                    <c:v>Maritime</c:v>
                  </c:pt>
                  <c:pt idx="2">
                    <c:v>Kara</c:v>
                  </c:pt>
                  <c:pt idx="3">
                    <c:v>Savanes</c:v>
                  </c:pt>
                  <c:pt idx="4">
                    <c:v>Centrale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255</c:v>
                </c:pt>
                <c:pt idx="1">
                  <c:v>251</c:v>
                </c:pt>
                <c:pt idx="2">
                  <c:v>175</c:v>
                </c:pt>
                <c:pt idx="3">
                  <c:v>161</c:v>
                </c:pt>
                <c:pt idx="4">
                  <c:v>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5D2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5D26"/>
                </a:solidFill>
                <a:latin typeface="Arial"/>
              </a:rPr>
              <a:t>Distance moyenne à un abattoir, par région (km)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Distance moyenne (km)</c:v>
                </c:pt>
              </c:strCache>
            </c:strRef>
          </c:tx>
          <c:spPr>
            <a:solidFill>
              <a:srgbClr val="1E8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Maritime</c:v>
                  </c:pt>
                  <c:pt idx="1">
                    <c:v>Kara</c:v>
                  </c:pt>
                  <c:pt idx="2">
                    <c:v>Centrale</c:v>
                  </c:pt>
                  <c:pt idx="3">
                    <c:v>Savanes</c:v>
                  </c:pt>
                  <c:pt idx="4">
                    <c:v>Plateaux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10.5</c:v>
                </c:pt>
                <c:pt idx="1">
                  <c:v>12</c:v>
                </c:pt>
                <c:pt idx="2">
                  <c:v>20.2</c:v>
                </c:pt>
                <c:pt idx="3">
                  <c:v>21.8</c:v>
                </c:pt>
                <c:pt idx="4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5D2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5D26"/>
                </a:solidFill>
                <a:latin typeface="Arial"/>
              </a:rPr>
              <a:t>Valeur ajoutée agricole (% du PIB)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 agricole (% PIB)</c:v>
                </c:pt>
              </c:strCache>
            </c:strRef>
          </c:tx>
          <c:spPr>
            <a:solidFill>
              <a:srgbClr val="1E8A3C"/>
            </a:solidFill>
            <a:ln w="38100" cap="flat">
              <a:solidFill>
                <a:srgbClr val="1E8A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8A3C"/>
              </a:solidFill>
              <a:ln w="9525" cap="flat">
                <a:solidFill>
                  <a:srgbClr val="1E8A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1995</c:v>
                  </c:pt>
                  <c:pt idx="1">
                    <c:v>2000</c:v>
                  </c:pt>
                  <c:pt idx="2">
                    <c:v>2005</c:v>
                  </c:pt>
                  <c:pt idx="3">
                    <c:v>2010</c:v>
                  </c:pt>
                  <c:pt idx="4">
                    <c:v>2015</c:v>
                  </c:pt>
                  <c:pt idx="5">
                    <c:v>2020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16.7</c:v>
                </c:pt>
                <c:pt idx="1">
                  <c:v>14.8</c:v>
                </c:pt>
                <c:pt idx="2">
                  <c:v>17.3</c:v>
                </c:pt>
                <c:pt idx="3">
                  <c:v>21.1</c:v>
                </c:pt>
                <c:pt idx="4">
                  <c:v>18.9</c:v>
                </c:pt>
                <c:pt idx="5">
                  <c:v>19.2</c:v>
                </c:pt>
                <c:pt idx="6">
                  <c:v>20.3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5D2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5D26"/>
                </a:solidFill>
                <a:latin typeface="Arial"/>
              </a:rPr>
              <a:t>Rendement des céréales (kg / ha)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Rendement céréales (kg/ha)</c:v>
                </c:pt>
              </c:strCache>
            </c:strRef>
          </c:tx>
          <c:spPr>
            <a:solidFill>
              <a:srgbClr val="F2C500"/>
            </a:solidFill>
            <a:ln w="38100" cap="flat">
              <a:solidFill>
                <a:srgbClr val="F2C5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C500"/>
              </a:solidFill>
              <a:ln w="9525" cap="flat">
                <a:solidFill>
                  <a:srgbClr val="F2C5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1995</c:v>
                  </c:pt>
                  <c:pt idx="1">
                    <c:v>2000</c:v>
                  </c:pt>
                  <c:pt idx="2">
                    <c:v>2005</c:v>
                  </c:pt>
                  <c:pt idx="3">
                    <c:v>2010</c:v>
                  </c:pt>
                  <c:pt idx="4">
                    <c:v>2015</c:v>
                  </c:pt>
                  <c:pt idx="5">
                    <c:v>2020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849</c:v>
                </c:pt>
                <c:pt idx="1">
                  <c:v>1058</c:v>
                </c:pt>
                <c:pt idx="2">
                  <c:v>1133</c:v>
                </c:pt>
                <c:pt idx="3">
                  <c:v>1187</c:v>
                </c:pt>
                <c:pt idx="4">
                  <c:v>1236</c:v>
                </c:pt>
                <c:pt idx="5">
                  <c:v>1150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togo-agri-resilience.streamlit.app/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41648" y="566928"/>
            <a:ext cx="1060704" cy="1060704"/>
          </a:xfrm>
          <a:prstGeom prst="ellipse">
            <a:avLst/>
          </a:prstGeom>
          <a:solidFill>
            <a:srgbClr val="F2C50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rgbClr val="0B5D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80467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2C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RÉSILIENCE AGRI-TOGO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Résilience agricole &amp; performance économique des territoires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indice territorial pour cibler les investissements agricoles au Togo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77440" y="370332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2C500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0" y="3703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CHALLENGE AGRICULTURE - DÉFI 2  |  TOGO AI LAB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 -   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objectif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98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question centrale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19202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les infrastructures agricoles du Togo (élevage, eau, pisciculture, abattoirs) </a:t>
            </a:r>
            <a:pPr indent="0" marL="0">
              <a:buNone/>
            </a:pPr>
            <a:r>
              <a:rPr lang="en-US" sz="1300" b="1" dirty="0">
                <a:solidFill>
                  <a:srgbClr val="1E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soutiennent-elles réellement l'économie locale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où de </a:t>
            </a:r>
            <a:pPr indent="0" marL="0">
              <a:buNone/>
            </a:pPr>
            <a:r>
              <a:rPr lang="en-US" sz="1300" b="1" dirty="0">
                <a:solidFill>
                  <a:srgbClr val="1E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nouveaux investissements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seraient-ils les plus pertinents 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0B5D2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298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réponse proposée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0" y="19202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dashboard analytique construit autour d'un indice original 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2C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l'IRAT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de Résilience Agricole Territoriale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calculé pour chacun des 363 cantons du pays.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4796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|  Data Challenge Agriculture - Défi 2  |  Togo AI Lab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13816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: 10 sources ouvertes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geodata.gouv.tg  -  opendata.gouv.tg  -  Banque mondiale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99032"/>
            <a:ext cx="1572768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3 004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Établissements</a:t>
            </a:r>
            <a:endParaRPr lang="en-US" sz="2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d'élevage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121408" y="13258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21408" y="1399032"/>
            <a:ext cx="1572768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611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Retenues d'eau</a:t>
            </a:r>
            <a:endParaRPr lang="en-US" sz="2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collinaires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785616" y="13258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85616" y="1399032"/>
            <a:ext cx="1572768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Digues &amp;</a:t>
            </a:r>
            <a:endParaRPr lang="en-US" sz="2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petits barrages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49824" y="13258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49824" y="1399032"/>
            <a:ext cx="1572768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de</a:t>
            </a:r>
            <a:endParaRPr lang="en-US" sz="2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pisciculture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114032" y="13258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14032" y="1399032"/>
            <a:ext cx="1572768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Abattoirs</a:t>
            </a:r>
            <a:endParaRPr lang="en-US" sz="2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seulement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310128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32004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 séries de la Banque mondiale (1960-2025) : </a:t>
            </a:r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ajoutée agricole (% PIB, croissance, USD constants, par travailleur) et indicateurs de développement rural (rendements, terres, emploi agricole).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371600" y="3931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Géométries WKT parsées par expressions régulières Python, sans dépendance SIG lourde.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796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|  Data Challenge Agriculture - Défi 2  |  Togo AI Lab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13816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 : l'indice IRAT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composite par canton, de 0 (fragile) à 1 (résilient)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035040" cy="73152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371600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4721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258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35 %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011680" y="130759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à l'eau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Retenues collinaires + digues et petits barrages recensées dans le canton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075688"/>
            <a:ext cx="6035040" cy="73152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" y="221284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3134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1671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25 %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2011680" y="214884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Proximité abattoir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haversine du canton à l'abattoir le plus proche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2916936"/>
            <a:ext cx="6035040" cy="73152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" y="3054096"/>
            <a:ext cx="457200" cy="457200"/>
          </a:xfrm>
          <a:prstGeom prst="ellipse">
            <a:avLst/>
          </a:prstGeom>
          <a:solidFill>
            <a:srgbClr val="1E8A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1546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0083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20 %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011680" y="2990088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Diversification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de zones de pisciculture (second revenu, amortisseur de chocs)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57200" y="3758184"/>
            <a:ext cx="6035040" cy="73152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21792" y="3895344"/>
            <a:ext cx="457200" cy="457200"/>
          </a:xfrm>
          <a:prstGeom prst="ellipse">
            <a:avLst/>
          </a:prstGeom>
          <a:solidFill>
            <a:srgbClr val="0B5D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99592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84962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20 %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2011680" y="383133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Encadrement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Infrastructures d'eau rapportées au nombre d'élevages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720840" y="123444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0B5D2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481328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8000" y="214884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priorité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activité d'élevage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2C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(1 - IRAT)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les cantons actifs mais fragiles : l'effet de levier maximal.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" y="4796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|  Data Challenge Agriculture - Défi 2  |  Togo AI Lab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813816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clés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24712"/>
            <a:ext cx="1874520" cy="1271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Cantons analysés</a:t>
            </a:r>
            <a:endParaRPr lang="en-US" sz="2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tout le territoire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770632"/>
            <a:ext cx="1874520" cy="1271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Cantons vulnérables</a:t>
            </a:r>
            <a:endParaRPr lang="en-US" sz="2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IRAT &lt; 0,25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124712"/>
            <a:ext cx="1874520" cy="1271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 km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médiane</a:t>
            </a:r>
            <a:endParaRPr lang="en-US" sz="2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un abattoir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514600" y="2697480"/>
            <a:ext cx="1874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2770632"/>
            <a:ext cx="1874520" cy="1271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83</a:t>
            </a:r>
            <a:endParaRPr lang="en-US" sz="26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abattoirs /</a:t>
            </a:r>
            <a:endParaRPr lang="en-US" sz="2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élevages recensés</a:t>
            </a:r>
            <a:endParaRPr lang="en-US" sz="2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754880" y="1051560"/>
          <a:ext cx="3931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75488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58 % des cantons agricoles du Togo manquent d'infrastructures pour sécuriser leur activité.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4796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|  Data Challenge Agriculture - Défi 2  |  Togo AI Lab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13816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à l'eau : le premier déterminant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5156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61872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0" y="11887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Constat fort : </a:t>
            </a:r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10 cantons les plus vulnérables ont 0 retenue et 0 digue, malgré une activité d'élevage réelle.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669280" y="2743200"/>
            <a:ext cx="3017520" cy="1508760"/>
          </a:xfrm>
          <a:prstGeom prst="roundRect">
            <a:avLst>
              <a:gd name="adj" fmla="val 6061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9718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0" y="2880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L'eau conditionne tout : </a:t>
            </a:r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irrigation, abreuvement du bétail et pisciculture en dépendent directement.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57200" y="4796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|  Data Challenge Agriculture - Défi 2  |  Togo AI Lab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813816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Élevage &amp; abattoirs : un maillon manquant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5156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0B5D2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97880" y="1965960"/>
            <a:ext cx="2560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abattoirs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3 004 établissements d'élevage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élevage loin d'un abattoir formel = pertes sanitaires, circuits informels, prix bradés.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D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région des Plateaux, la plus active, est aussi la plus éloignée (32 km).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4796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|  Data Challenge Agriculture - Défi 2  |  Togo AI Lab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13816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L'agriculture, pilier de l'économie togolaise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5156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~20 % du PIB</a:t>
            </a:r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plus d'un tiers de l'emploi : chaque canton sécurisé renforce directement l'économie nationale. Les rendements plafonnent depuis 2010 - </a:t>
            </a:r>
            <a:pPr algn="ctr" indent="0" marL="0">
              <a:buNone/>
            </a:pPr>
            <a:r>
              <a:rPr lang="en-US" sz="12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l'infrastructure est le prochain levier.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4796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|  Data Challenge Agriculture - Défi 2  |  Togo AI Lab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13816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des zones prioritaires d'investissement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61264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325880"/>
                <a:gridCol w="1051560"/>
                <a:gridCol w="1005840"/>
                <a:gridCol w="822960"/>
                <a:gridCol w="731520"/>
                <a:gridCol w="82296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C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C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C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Préfecture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C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Région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C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Élevages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C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C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2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Wahala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Plateaux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Aflao-Sagbado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Aképé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Tsévié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Blitta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Blitta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Kpédomé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Plateaux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Hahomégbé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Plateaux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Baguida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Gapé-Centre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Gléi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Ogou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Plateaux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005840"/>
            <a:ext cx="1828800" cy="3474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67728" y="1874520"/>
            <a:ext cx="16093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Wahala (Haho)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élevages, quasi aucune infrastructure : la priorité n°1 du pays.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cantons sur 10 sont dans les régions Maritime et Plateaux.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4796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|  Data Challenge Agriculture - Défi 2  |  Togo AI Lab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13816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recommandations d'investissement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90472" y="1371600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5087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L'eau d'abord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Retenues collinaires et petits barrages à usage mixte (abreuvement + maraîchage) dans les cantons prioritaires : le déficit le plus fréquent, l'impact le plus large.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25112" y="1371600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50876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Abattoirs de proximité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7472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Aires d'abattage modernes dans les préfectures éloignées (Plateaux en tête) pour réduire pertes sanitaires et circuits informels.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2F3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59752" y="1371600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A3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50876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Diversifier par la pisciculture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0936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Adosser des bassins piscicoles aux retenues d'eau existantes : second revenu pour les éleveurs et amortisseur de chocs climatiques.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57200" y="4796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|  Data Challenge Agriculture - Défi 2  |  Togo AI Lab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13816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dashboard interactif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75488" cy="475488"/>
          </a:xfrm>
          <a:prstGeom prst="ellipse">
            <a:avLst/>
          </a:prstGeom>
          <a:solidFill>
            <a:srgbClr val="F2F3F5"/>
          </a:solidFill>
          <a:ln w="12700">
            <a:solidFill>
              <a:srgbClr val="1E8A3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5272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1430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interactive de 4 000+ infrastructures avec clustering rapide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856232"/>
            <a:ext cx="475488" cy="475488"/>
          </a:xfrm>
          <a:prstGeom prst="ellipse">
            <a:avLst/>
          </a:prstGeom>
          <a:solidFill>
            <a:srgbClr val="F2F3F5"/>
          </a:solidFill>
          <a:ln w="12700">
            <a:solidFill>
              <a:srgbClr val="1E8A3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85623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graphiques interactifs répartis en 6 onglets thématiques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2569464"/>
            <a:ext cx="475488" cy="475488"/>
          </a:xfrm>
          <a:prstGeom prst="ellipse">
            <a:avLst/>
          </a:prstGeom>
          <a:solidFill>
            <a:srgbClr val="F2F3F5"/>
          </a:solidFill>
          <a:ln w="12700">
            <a:solidFill>
              <a:srgbClr val="1E8A3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7919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56946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multi-régions appliqués à toutes les analyses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3282696"/>
            <a:ext cx="475488" cy="475488"/>
          </a:xfrm>
          <a:prstGeom prst="ellipse">
            <a:avLst/>
          </a:prstGeom>
          <a:solidFill>
            <a:srgbClr val="F2F3F5"/>
          </a:solidFill>
          <a:ln w="12700">
            <a:solidFill>
              <a:srgbClr val="1E8A3C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9242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28269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IRAT par canton et tableau des zones prioritaires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577840" y="114300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0B5D2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46304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760720" y="21488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en ligne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2C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togo-agri-resilience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2C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.streamlit.app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 Streamlit - Plotly - Folium - Pandas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457200" y="4796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Bastou OURO-TAGBA  |  Data Challenge Agriculture - Défi 2  |  Togo AI Lab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8138160" y="47960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5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6858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C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donnée brute à la décision d'investissement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jeux de données ouverts  -&gt;  1 indice territorial  -&gt;  </a:t>
            </a:r>
            <a:pPr algn="ctr" indent="0" marL="0">
              <a:buNone/>
            </a:pPr>
            <a:r>
              <a:rPr lang="en-US" sz="1500" b="1" dirty="0">
                <a:solidFill>
                  <a:srgbClr val="FFD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zones prioritaires actionnables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97280" y="27432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résilience agricole se construit là où l'activité existe déjà mais où l'infrastructure manque encore.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651760" y="347472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2C500"/>
          </a:solidFill>
          <a:ln/>
        </p:spPr>
      </p:sp>
      <p:sp>
        <p:nvSpPr>
          <p:cNvPr id="7" name="Text 4">
            <a:hlinkClick r:id="rId2" tooltip=""/>
          </p:cNvPr>
          <p:cNvSpPr/>
          <p:nvPr/>
        </p:nvSpPr>
        <p:spPr>
          <a:xfrm>
            <a:off x="2651760" y="3474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B5D2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togo-agri-resilience.streamlit.app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!   -   Bastou OURO-TAGBA   -   Data Challenge Agriculture Défi 2   -   Togo AI Lab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Resilience Agri-Togo - Data Challenge Agriculture Defi 2</dc:title>
  <dc:subject>PptxGenJS Presentation</dc:subject>
  <dc:creator>Bastou OURO-TAGBA</dc:creator>
  <cp:lastModifiedBy>Bastou OURO-TAGBA</cp:lastModifiedBy>
  <cp:revision>1</cp:revision>
  <dcterms:created xsi:type="dcterms:W3CDTF">2026-07-05T08:30:32Z</dcterms:created>
  <dcterms:modified xsi:type="dcterms:W3CDTF">2026-07-05T08:30:32Z</dcterms:modified>
</cp:coreProperties>
</file>